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vaguada-web/public/image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560000" cy="2331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0000" cy="2331720"/>
          </a:xfrm>
          <a:prstGeom prst="rect">
            <a:avLst/>
          </a:prstGeom>
          <a:solidFill>
            <a:srgbClr val="1E2A45">
              <a:alpha val="8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67726" y="646938"/>
            <a:ext cx="1504188" cy="1020699"/>
          </a:xfrm>
          <a:custGeom>
            <a:avLst/>
            <a:gdLst/>
            <a:ahLst/>
            <a:cxnLst/>
            <a:rect l="l" t="t" r="r" b="b"/>
            <a:pathLst>
              <a:path w="1504188" h="1020699">
                <a:moveTo>
                  <a:pt x="0" y="0"/>
                </a:moveTo>
                <a:cubicBezTo>
                  <a:pt x="376047" y="0"/>
                  <a:pt x="564071" y="805815"/>
                  <a:pt x="752094" y="1020699"/>
                </a:cubicBezTo>
                <a:cubicBezTo>
                  <a:pt x="940118" y="805815"/>
                  <a:pt x="1128141" y="0"/>
                  <a:pt x="1504188" y="0"/>
                </a:cubicBezTo>
              </a:path>
            </a:pathLst>
          </a:custGeom>
          <a:noFill/>
          <a:ln w="150419">
            <a:solidFill>
              <a:srgbClr val="8FC1E0">
                <a:alpha val="1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82610" y="1022985"/>
            <a:ext cx="1074420" cy="752094"/>
          </a:xfrm>
          <a:custGeom>
            <a:avLst/>
            <a:gdLst/>
            <a:ahLst/>
            <a:cxnLst/>
            <a:rect l="l" t="t" r="r" b="b"/>
            <a:pathLst>
              <a:path w="1074420" h="752094">
                <a:moveTo>
                  <a:pt x="0" y="0"/>
                </a:moveTo>
                <a:cubicBezTo>
                  <a:pt x="241745" y="0"/>
                  <a:pt x="376047" y="510350"/>
                  <a:pt x="537210" y="752094"/>
                </a:cubicBezTo>
                <a:cubicBezTo>
                  <a:pt x="698373" y="510350"/>
                  <a:pt x="832676" y="0"/>
                  <a:pt x="1074420" y="0"/>
                </a:cubicBezTo>
              </a:path>
            </a:pathLst>
          </a:custGeom>
          <a:noFill/>
          <a:ln w="107442">
            <a:solidFill>
              <a:srgbClr val="8FC1E0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2378" y="1882521"/>
            <a:ext cx="214884" cy="214884"/>
          </a:xfrm>
          <a:prstGeom prst="ellipse">
            <a:avLst/>
          </a:prstGeom>
          <a:solidFill>
            <a:srgbClr val="8FC1E0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36576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E2A45"/>
          </a:solidFill>
          <a:ln/>
        </p:spPr>
      </p:sp>
      <p:sp>
        <p:nvSpPr>
          <p:cNvPr id="8" name="Shape 5"/>
          <p:cNvSpPr/>
          <p:nvPr/>
        </p:nvSpPr>
        <p:spPr>
          <a:xfrm>
            <a:off x="661294" y="629107"/>
            <a:ext cx="414772" cy="281452"/>
          </a:xfrm>
          <a:custGeom>
            <a:avLst/>
            <a:gdLst/>
            <a:ahLst/>
            <a:cxnLst/>
            <a:rect l="l" t="t" r="r" b="b"/>
            <a:pathLst>
              <a:path w="414772" h="281452">
                <a:moveTo>
                  <a:pt x="0" y="0"/>
                </a:moveTo>
                <a:cubicBezTo>
                  <a:pt x="103693" y="0"/>
                  <a:pt x="155539" y="222199"/>
                  <a:pt x="207386" y="281452"/>
                </a:cubicBezTo>
                <a:cubicBezTo>
                  <a:pt x="259232" y="222199"/>
                  <a:pt x="311079" y="0"/>
                  <a:pt x="414772" y="0"/>
                </a:cubicBezTo>
              </a:path>
            </a:pathLst>
          </a:custGeom>
          <a:noFill/>
          <a:ln w="47402">
            <a:solidFill>
              <a:srgbClr val="8FC1E0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0547" y="732800"/>
            <a:ext cx="296266" cy="207386"/>
          </a:xfrm>
          <a:custGeom>
            <a:avLst/>
            <a:gdLst/>
            <a:ahLst/>
            <a:cxnLst/>
            <a:rect l="l" t="t" r="r" b="b"/>
            <a:pathLst>
              <a:path w="296266" h="207386">
                <a:moveTo>
                  <a:pt x="0" y="0"/>
                </a:moveTo>
                <a:cubicBezTo>
                  <a:pt x="66660" y="0"/>
                  <a:pt x="103693" y="140726"/>
                  <a:pt x="148133" y="207386"/>
                </a:cubicBezTo>
                <a:cubicBezTo>
                  <a:pt x="192573" y="140726"/>
                  <a:pt x="229606" y="0"/>
                  <a:pt x="296266" y="0"/>
                </a:cubicBezTo>
              </a:path>
            </a:pathLst>
          </a:custGeom>
          <a:noFill/>
          <a:ln w="32589">
            <a:solidFill>
              <a:srgbClr val="8FC1E0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9800" y="829086"/>
            <a:ext cx="177759" cy="133320"/>
          </a:xfrm>
          <a:custGeom>
            <a:avLst/>
            <a:gdLst/>
            <a:ahLst/>
            <a:cxnLst/>
            <a:rect l="l" t="t" r="r" b="b"/>
            <a:pathLst>
              <a:path w="177759" h="133320">
                <a:moveTo>
                  <a:pt x="0" y="0"/>
                </a:moveTo>
                <a:cubicBezTo>
                  <a:pt x="44440" y="0"/>
                  <a:pt x="66660" y="74066"/>
                  <a:pt x="88880" y="133320"/>
                </a:cubicBezTo>
                <a:cubicBezTo>
                  <a:pt x="111100" y="74066"/>
                  <a:pt x="133320" y="0"/>
                  <a:pt x="177759" y="0"/>
                </a:cubicBezTo>
              </a:path>
            </a:pathLst>
          </a:custGeom>
          <a:noFill/>
          <a:ln w="26664">
            <a:solidFill>
              <a:srgbClr val="8FC1E0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2016" y="602443"/>
            <a:ext cx="53328" cy="53328"/>
          </a:xfrm>
          <a:prstGeom prst="ellipse">
            <a:avLst/>
          </a:prstGeom>
          <a:solidFill>
            <a:srgbClr val="8FC1E0">
              <a:alpha val="95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463040" y="402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VAGUADA</a:t>
            </a:r>
            <a:pPr indent="0" marL="0">
              <a:buNone/>
            </a:pPr>
            <a:r>
              <a:rPr lang="en-US" sz="120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●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9509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CONSULTORA AMBIENTAL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325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SOLUCIONES AMBIENTALES PARA INDUSTRIAS E INSTITUCIONES.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947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EE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Diagnóstico, diseño, gestión e implementación de soluciones ambientales. Desarrollos aplicados al sector industrial, infraestructura y recursos naturales.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560320"/>
            <a:ext cx="664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encargamos de todo.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2907792"/>
            <a:ext cx="155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05409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88248" y="3072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7BF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603504" y="3319272"/>
            <a:ext cx="129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Relevamos el problema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el lugar: técnico, normativo u operativo.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2155176" y="2907792"/>
            <a:ext cx="155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80" y="305409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286224" y="3072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7BF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2301480" y="3319272"/>
            <a:ext cx="129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Diseñamos a medida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ingeniería, balances o documentación normativa.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853152" y="2907792"/>
            <a:ext cx="155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456" y="305409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984200" y="3072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7BF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3999456" y="3319272"/>
            <a:ext cx="129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Gestionamos todo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compras, proveedores y trámites hasta la ejecución.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5551128" y="2907792"/>
            <a:ext cx="155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432" y="3054096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682176" y="3072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7BF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5697432" y="3319272"/>
            <a:ext cx="129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Entregamos funcionando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permiso aprobado u obra operando.</a:t>
            </a:r>
            <a:endParaRPr lang="en-US" sz="7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069080"/>
            <a:ext cx="664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Áreas de trabajo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457200" y="4416552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85216" y="456285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64515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2416" y="4507992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Diagnósticos y recomendaciones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1042416" y="4818888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Entendimiento técnico de la operación como punto de partida.</a:t>
            </a:r>
            <a:endParaRPr lang="en-US" sz="680" dirty="0"/>
          </a:p>
        </p:txBody>
      </p:sp>
      <p:sp>
        <p:nvSpPr>
          <p:cNvPr id="39" name="Shape 31"/>
          <p:cNvSpPr/>
          <p:nvPr/>
        </p:nvSpPr>
        <p:spPr>
          <a:xfrm>
            <a:off x="2721168" y="4416552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2849184" y="456285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1480" y="4645152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3306384" y="4507992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Cumplimiento ambiental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3306384" y="4818888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EIA, DIA, permisos, licencias y planes de gestión.</a:t>
            </a:r>
            <a:endParaRPr lang="en-US" sz="680" dirty="0"/>
          </a:p>
        </p:txBody>
      </p:sp>
      <p:sp>
        <p:nvSpPr>
          <p:cNvPr id="44" name="Shape 35"/>
          <p:cNvSpPr/>
          <p:nvPr/>
        </p:nvSpPr>
        <p:spPr>
          <a:xfrm>
            <a:off x="4985136" y="4416552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5113152" y="456285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5448" y="4645152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570352" y="4507992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Agua y efluentes</a:t>
            </a:r>
            <a:endParaRPr lang="en-US" sz="800" dirty="0"/>
          </a:p>
        </p:txBody>
      </p:sp>
      <p:sp>
        <p:nvSpPr>
          <p:cNvPr id="48" name="Text 38"/>
          <p:cNvSpPr txBox="1"/>
          <p:nvPr/>
        </p:nvSpPr>
        <p:spPr>
          <a:xfrm>
            <a:off x="5570352" y="4818888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Infraestructura de agua y tratamiento de efluentes.</a:t>
            </a:r>
            <a:endParaRPr lang="en-US" sz="680" dirty="0"/>
          </a:p>
        </p:txBody>
      </p:sp>
      <p:sp>
        <p:nvSpPr>
          <p:cNvPr id="49" name="Shape 39"/>
          <p:cNvSpPr/>
          <p:nvPr/>
        </p:nvSpPr>
        <p:spPr>
          <a:xfrm>
            <a:off x="457200" y="5276088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85216" y="54223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" y="5504688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042416" y="5367528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Residuos y economía circular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1042416" y="5678424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Gestión de residuos y modelos de valorización.</a:t>
            </a:r>
            <a:endParaRPr lang="en-US" sz="680" dirty="0"/>
          </a:p>
        </p:txBody>
      </p:sp>
      <p:sp>
        <p:nvSpPr>
          <p:cNvPr id="54" name="Shape 43"/>
          <p:cNvSpPr/>
          <p:nvPr/>
        </p:nvSpPr>
        <p:spPr>
          <a:xfrm>
            <a:off x="2721168" y="5276088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2849184" y="54223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480" y="5504688"/>
            <a:ext cx="182880" cy="18288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3306384" y="5367528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Emisiones atmosféricas</a:t>
            </a:r>
            <a:endParaRPr lang="en-US" sz="800" dirty="0"/>
          </a:p>
        </p:txBody>
      </p:sp>
      <p:sp>
        <p:nvSpPr>
          <p:cNvPr id="58" name="Text 46"/>
          <p:cNvSpPr txBox="1"/>
          <p:nvPr/>
        </p:nvSpPr>
        <p:spPr>
          <a:xfrm>
            <a:off x="3306384" y="5678424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Caracterización, modelación y control de emisiones.</a:t>
            </a:r>
            <a:endParaRPr lang="en-US" sz="680" dirty="0"/>
          </a:p>
        </p:txBody>
      </p:sp>
      <p:sp>
        <p:nvSpPr>
          <p:cNvPr id="59" name="Shape 47"/>
          <p:cNvSpPr/>
          <p:nvPr/>
        </p:nvSpPr>
        <p:spPr>
          <a:xfrm>
            <a:off x="4985136" y="5276088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5113152" y="54223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5448" y="5504688"/>
            <a:ext cx="182880" cy="18288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5570352" y="5367528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Sustentabilidad empresarial</a:t>
            </a:r>
            <a:endParaRPr lang="en-US" sz="800" dirty="0"/>
          </a:p>
        </p:txBody>
      </p:sp>
      <p:sp>
        <p:nvSpPr>
          <p:cNvPr id="63" name="Text 50"/>
          <p:cNvSpPr txBox="1"/>
          <p:nvPr/>
        </p:nvSpPr>
        <p:spPr>
          <a:xfrm>
            <a:off x="5570352" y="5678424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Cultura ambiental, indicadores y datos para la gestión.</a:t>
            </a:r>
            <a:endParaRPr lang="en-US" sz="680" dirty="0"/>
          </a:p>
        </p:txBody>
      </p:sp>
      <p:sp>
        <p:nvSpPr>
          <p:cNvPr id="64" name="Shape 51"/>
          <p:cNvSpPr/>
          <p:nvPr/>
        </p:nvSpPr>
        <p:spPr>
          <a:xfrm>
            <a:off x="457200" y="6135624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585216" y="628192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" y="6364224"/>
            <a:ext cx="182880" cy="18288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042416" y="6227064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Riesgo climático y adaptación</a:t>
            </a:r>
            <a:endParaRPr lang="en-US" sz="800" dirty="0"/>
          </a:p>
        </p:txBody>
      </p:sp>
      <p:sp>
        <p:nvSpPr>
          <p:cNvPr id="68" name="Text 54"/>
          <p:cNvSpPr txBox="1"/>
          <p:nvPr/>
        </p:nvSpPr>
        <p:spPr>
          <a:xfrm>
            <a:off x="1042416" y="6537960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 datos climáticos a decisiones de inversión.</a:t>
            </a:r>
            <a:endParaRPr lang="en-US" sz="680" dirty="0"/>
          </a:p>
        </p:txBody>
      </p:sp>
      <p:sp>
        <p:nvSpPr>
          <p:cNvPr id="69" name="Shape 55"/>
          <p:cNvSpPr/>
          <p:nvPr/>
        </p:nvSpPr>
        <p:spPr>
          <a:xfrm>
            <a:off x="2721168" y="6135624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70" name="Shape 56"/>
          <p:cNvSpPr/>
          <p:nvPr/>
        </p:nvSpPr>
        <p:spPr>
          <a:xfrm>
            <a:off x="2849184" y="628192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31480" y="6364224"/>
            <a:ext cx="182880" cy="18288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3306384" y="6227064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Remediación y restauración</a:t>
            </a:r>
            <a:endParaRPr lang="en-US" sz="800" dirty="0"/>
          </a:p>
        </p:txBody>
      </p:sp>
      <p:sp>
        <p:nvSpPr>
          <p:cNvPr id="73" name="Text 58"/>
          <p:cNvSpPr txBox="1"/>
          <p:nvPr/>
        </p:nvSpPr>
        <p:spPr>
          <a:xfrm>
            <a:off x="3306384" y="6537960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Suelos, aguas y ecosistemas.</a:t>
            </a:r>
            <a:endParaRPr lang="en-US" sz="680" dirty="0"/>
          </a:p>
        </p:txBody>
      </p:sp>
      <p:sp>
        <p:nvSpPr>
          <p:cNvPr id="74" name="Shape 59"/>
          <p:cNvSpPr/>
          <p:nvPr/>
        </p:nvSpPr>
        <p:spPr>
          <a:xfrm>
            <a:off x="4985136" y="6135624"/>
            <a:ext cx="2117664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75" name="Shape 60"/>
          <p:cNvSpPr/>
          <p:nvPr/>
        </p:nvSpPr>
        <p:spPr>
          <a:xfrm>
            <a:off x="5113152" y="628192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6EEF7"/>
          </a:solidFill>
          <a:ln/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5448" y="6364224"/>
            <a:ext cx="182880" cy="182880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5570352" y="6227064"/>
            <a:ext cx="144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Modelado hidráulico e hidrológico</a:t>
            </a:r>
            <a:endParaRPr lang="en-US" sz="800" dirty="0"/>
          </a:p>
        </p:txBody>
      </p:sp>
      <p:sp>
        <p:nvSpPr>
          <p:cNvPr id="78" name="Text 62"/>
          <p:cNvSpPr txBox="1"/>
          <p:nvPr/>
        </p:nvSpPr>
        <p:spPr>
          <a:xfrm>
            <a:off x="5570352" y="6537960"/>
            <a:ext cx="144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4B57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Crecidas y escurrimientos con HEC-RAS y HEC-HMS.</a:t>
            </a:r>
            <a:endParaRPr lang="en-US" sz="680" dirty="0"/>
          </a:p>
        </p:txBody>
      </p:sp>
      <p:sp>
        <p:nvSpPr>
          <p:cNvPr id="79" name="Text 63"/>
          <p:cNvSpPr txBox="1"/>
          <p:nvPr/>
        </p:nvSpPr>
        <p:spPr>
          <a:xfrm>
            <a:off x="457200" y="7114032"/>
            <a:ext cx="664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Sectores de aplicación</a:t>
            </a:r>
            <a:endParaRPr lang="en-US" sz="1500" dirty="0"/>
          </a:p>
        </p:txBody>
      </p:sp>
      <p:sp>
        <p:nvSpPr>
          <p:cNvPr id="80" name="Text 64"/>
          <p:cNvSpPr txBox="1"/>
          <p:nvPr/>
        </p:nvSpPr>
        <p:spPr>
          <a:xfrm>
            <a:off x="457200" y="7461504"/>
            <a:ext cx="58887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Minería</a:t>
            </a:r>
            <a:endParaRPr lang="en-US" sz="700" dirty="0"/>
          </a:p>
        </p:txBody>
      </p:sp>
      <p:sp>
        <p:nvSpPr>
          <p:cNvPr id="81" name="Text 65"/>
          <p:cNvSpPr txBox="1"/>
          <p:nvPr/>
        </p:nvSpPr>
        <p:spPr>
          <a:xfrm>
            <a:off x="1119226" y="7461504"/>
            <a:ext cx="58887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Energía</a:t>
            </a:r>
            <a:endParaRPr lang="en-US" sz="700" dirty="0"/>
          </a:p>
        </p:txBody>
      </p:sp>
      <p:sp>
        <p:nvSpPr>
          <p:cNvPr id="82" name="Text 66"/>
          <p:cNvSpPr txBox="1"/>
          <p:nvPr/>
        </p:nvSpPr>
        <p:spPr>
          <a:xfrm>
            <a:off x="1781251" y="7461504"/>
            <a:ext cx="134965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Industria y manufactura</a:t>
            </a:r>
            <a:endParaRPr lang="en-US" sz="700" dirty="0"/>
          </a:p>
        </p:txBody>
      </p:sp>
      <p:sp>
        <p:nvSpPr>
          <p:cNvPr id="83" name="Text 67"/>
          <p:cNvSpPr txBox="1"/>
          <p:nvPr/>
        </p:nvSpPr>
        <p:spPr>
          <a:xfrm>
            <a:off x="3204058" y="7461504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Infraestructura y construcción</a:t>
            </a:r>
            <a:endParaRPr lang="en-US" sz="700" dirty="0"/>
          </a:p>
        </p:txBody>
      </p:sp>
      <p:sp>
        <p:nvSpPr>
          <p:cNvPr id="84" name="Text 68"/>
          <p:cNvSpPr txBox="1"/>
          <p:nvPr/>
        </p:nvSpPr>
        <p:spPr>
          <a:xfrm>
            <a:off x="4959706" y="7461504"/>
            <a:ext cx="158739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Hidrocarburos y combustibles</a:t>
            </a:r>
            <a:endParaRPr lang="en-US" sz="700" dirty="0"/>
          </a:p>
        </p:txBody>
      </p:sp>
      <p:sp>
        <p:nvSpPr>
          <p:cNvPr id="85" name="Text 69"/>
          <p:cNvSpPr txBox="1"/>
          <p:nvPr/>
        </p:nvSpPr>
        <p:spPr>
          <a:xfrm>
            <a:off x="457200" y="7772400"/>
            <a:ext cx="134965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Industria agro-ganadera</a:t>
            </a:r>
            <a:endParaRPr lang="en-US" sz="700" dirty="0"/>
          </a:p>
        </p:txBody>
      </p:sp>
      <p:sp>
        <p:nvSpPr>
          <p:cNvPr id="86" name="Text 70"/>
          <p:cNvSpPr txBox="1"/>
          <p:nvPr/>
        </p:nvSpPr>
        <p:spPr>
          <a:xfrm>
            <a:off x="1880006" y="7772400"/>
            <a:ext cx="683971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Logística</a:t>
            </a:r>
            <a:endParaRPr lang="en-US" sz="700" dirty="0"/>
          </a:p>
        </p:txBody>
      </p:sp>
      <p:sp>
        <p:nvSpPr>
          <p:cNvPr id="87" name="Text 71"/>
          <p:cNvSpPr txBox="1"/>
          <p:nvPr/>
        </p:nvSpPr>
        <p:spPr>
          <a:xfrm>
            <a:off x="2637130" y="7772400"/>
            <a:ext cx="1254557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Grandes instalaciones</a:t>
            </a:r>
            <a:endParaRPr lang="en-US" sz="700" dirty="0"/>
          </a:p>
        </p:txBody>
      </p:sp>
      <p:sp>
        <p:nvSpPr>
          <p:cNvPr id="88" name="Text 72"/>
          <p:cNvSpPr txBox="1"/>
          <p:nvPr/>
        </p:nvSpPr>
        <p:spPr>
          <a:xfrm>
            <a:off x="3964838" y="7772400"/>
            <a:ext cx="1492301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Sector público y gobiernos</a:t>
            </a:r>
            <a:endParaRPr lang="en-US" sz="700" dirty="0"/>
          </a:p>
        </p:txBody>
      </p:sp>
      <p:sp>
        <p:nvSpPr>
          <p:cNvPr id="89" name="Text 73"/>
          <p:cNvSpPr txBox="1"/>
          <p:nvPr/>
        </p:nvSpPr>
        <p:spPr>
          <a:xfrm>
            <a:off x="457200" y="8238744"/>
            <a:ext cx="664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Equipo</a:t>
            </a:r>
            <a:endParaRPr lang="en-US" sz="1500" dirty="0"/>
          </a:p>
        </p:txBody>
      </p:sp>
      <p:sp>
        <p:nvSpPr>
          <p:cNvPr id="90" name="Shape 74"/>
          <p:cNvSpPr/>
          <p:nvPr/>
        </p:nvSpPr>
        <p:spPr>
          <a:xfrm>
            <a:off x="457200" y="8586216"/>
            <a:ext cx="3249648" cy="1389888"/>
          </a:xfrm>
          <a:prstGeom prst="roundRect">
            <a:avLst>
              <a:gd name="adj" fmla="val 10526"/>
            </a:avLst>
          </a:prstGeom>
          <a:solidFill>
            <a:srgbClr val="1E2A45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91" name="Text 75"/>
          <p:cNvSpPr txBox="1"/>
          <p:nvPr/>
        </p:nvSpPr>
        <p:spPr>
          <a:xfrm>
            <a:off x="658368" y="8750808"/>
            <a:ext cx="2883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Francisco Salvadores</a:t>
            </a:r>
            <a:endParaRPr lang="en-US" sz="1300" dirty="0"/>
          </a:p>
        </p:txBody>
      </p:sp>
      <p:sp>
        <p:nvSpPr>
          <p:cNvPr id="92" name="Text 76"/>
          <p:cNvSpPr txBox="1"/>
          <p:nvPr/>
        </p:nvSpPr>
        <p:spPr>
          <a:xfrm>
            <a:off x="658368" y="8997696"/>
            <a:ext cx="2883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DIRECTOR OPERATIVO</a:t>
            </a:r>
            <a:endParaRPr lang="en-US" sz="700" dirty="0"/>
          </a:p>
        </p:txBody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" y="9226296"/>
            <a:ext cx="155448" cy="155448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877824" y="9217152"/>
            <a:ext cx="264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Ingeniero Ambiental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9D3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Universidad Nacional del Litoral</a:t>
            </a:r>
            <a:endParaRPr lang="en-US" sz="800" dirty="0"/>
          </a:p>
        </p:txBody>
      </p:sp>
      <p:sp>
        <p:nvSpPr>
          <p:cNvPr id="95" name="Text 78"/>
          <p:cNvSpPr txBox="1"/>
          <p:nvPr/>
        </p:nvSpPr>
        <p:spPr>
          <a:xfrm>
            <a:off x="658368" y="9518904"/>
            <a:ext cx="284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AEB9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Evaluación de impacto ambiental, líneas de base, gestión integral de residuos y sistemas ISO 14001 / ISO 9001. Coordinación de equipos interdisciplinarios.</a:t>
            </a:r>
            <a:endParaRPr lang="en-US" sz="680" dirty="0"/>
          </a:p>
        </p:txBody>
      </p:sp>
      <p:sp>
        <p:nvSpPr>
          <p:cNvPr id="96" name="Shape 79"/>
          <p:cNvSpPr/>
          <p:nvPr/>
        </p:nvSpPr>
        <p:spPr>
          <a:xfrm>
            <a:off x="3853152" y="8586216"/>
            <a:ext cx="3249648" cy="1389888"/>
          </a:xfrm>
          <a:prstGeom prst="roundRect">
            <a:avLst>
              <a:gd name="adj" fmla="val 10526"/>
            </a:avLst>
          </a:prstGeom>
          <a:solidFill>
            <a:srgbClr val="1E2A45"/>
          </a:solidFill>
          <a:ln/>
          <a:effectLst>
            <a:outerShdw sx="100000" sy="100000" kx="0" ky="0" algn="bl" rotWithShape="0" blurRad="127000" dist="38100" dir="5400000">
              <a:srgbClr val="1E2A45">
                <a:alpha val="10000"/>
              </a:srgbClr>
            </a:outerShdw>
          </a:effectLst>
        </p:spPr>
      </p:sp>
      <p:sp>
        <p:nvSpPr>
          <p:cNvPr id="97" name="Text 80"/>
          <p:cNvSpPr txBox="1"/>
          <p:nvPr/>
        </p:nvSpPr>
        <p:spPr>
          <a:xfrm>
            <a:off x="4054320" y="8750808"/>
            <a:ext cx="2883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Luca Parquet</a:t>
            </a:r>
            <a:endParaRPr lang="en-US" sz="1300" dirty="0"/>
          </a:p>
        </p:txBody>
      </p:sp>
      <p:sp>
        <p:nvSpPr>
          <p:cNvPr id="98" name="Text 81"/>
          <p:cNvSpPr txBox="1"/>
          <p:nvPr/>
        </p:nvSpPr>
        <p:spPr>
          <a:xfrm>
            <a:off x="4054320" y="8997696"/>
            <a:ext cx="2883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DIRECTOR DE SIG Y MODELADO</a:t>
            </a:r>
            <a:endParaRPr lang="en-US" sz="700" dirty="0"/>
          </a:p>
        </p:txBody>
      </p:sp>
      <p:pic>
        <p:nvPicPr>
          <p:cNvPr id="9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54320" y="9226296"/>
            <a:ext cx="155448" cy="155448"/>
          </a:xfrm>
          <a:prstGeom prst="rect">
            <a:avLst/>
          </a:prstGeom>
        </p:spPr>
      </p:pic>
      <p:sp>
        <p:nvSpPr>
          <p:cNvPr id="100" name="Text 82"/>
          <p:cNvSpPr txBox="1"/>
          <p:nvPr/>
        </p:nvSpPr>
        <p:spPr>
          <a:xfrm>
            <a:off x="4273776" y="9217152"/>
            <a:ext cx="264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Ingénieur — École des Ponts ParisTech, Francia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9D3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Ingeniero en Recursos Hídricos, UNL</a:t>
            </a:r>
            <a:endParaRPr lang="en-US" sz="800" dirty="0"/>
          </a:p>
        </p:txBody>
      </p:sp>
      <p:sp>
        <p:nvSpPr>
          <p:cNvPr id="101" name="Text 83"/>
          <p:cNvSpPr txBox="1"/>
          <p:nvPr/>
        </p:nvSpPr>
        <p:spPr>
          <a:xfrm>
            <a:off x="4054320" y="9518904"/>
            <a:ext cx="284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AEB9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Modelación hidráulica e hidrológica (HEC-RAS, HEC-HMS, TELEMAC-MASCARET) y SIG. Experiencia en Francia y Argentina en obras y riesgo de inundación.</a:t>
            </a:r>
            <a:endParaRPr lang="en-US" sz="680" dirty="0"/>
          </a:p>
        </p:txBody>
      </p:sp>
      <p:sp>
        <p:nvSpPr>
          <p:cNvPr id="102" name="Shape 84"/>
          <p:cNvSpPr/>
          <p:nvPr/>
        </p:nvSpPr>
        <p:spPr>
          <a:xfrm>
            <a:off x="0" y="10189080"/>
            <a:ext cx="7560000" cy="5029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457200" y="1018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8FC1E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CONTACTO</a:t>
            </a:r>
            <a:endParaRPr lang="en-US" sz="800" dirty="0"/>
          </a:p>
        </p:txBody>
      </p:sp>
      <p:pic>
        <p:nvPicPr>
          <p:cNvPr id="10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8760" y="10367388"/>
            <a:ext cx="146304" cy="146304"/>
          </a:xfrm>
          <a:prstGeom prst="rect">
            <a:avLst/>
          </a:prstGeom>
        </p:spPr>
      </p:pic>
      <p:sp>
        <p:nvSpPr>
          <p:cNvPr id="105" name="Text 86"/>
          <p:cNvSpPr txBox="1"/>
          <p:nvPr/>
        </p:nvSpPr>
        <p:spPr>
          <a:xfrm>
            <a:off x="1728216" y="1018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contacto@vaguada.com</a:t>
            </a:r>
            <a:endParaRPr lang="en-US" sz="850" dirty="0"/>
          </a:p>
        </p:txBody>
      </p:sp>
      <p:pic>
        <p:nvPicPr>
          <p:cNvPr id="10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6120" y="10367388"/>
            <a:ext cx="146304" cy="146304"/>
          </a:xfrm>
          <a:prstGeom prst="rect">
            <a:avLst/>
          </a:prstGeom>
        </p:spPr>
      </p:pic>
      <p:sp>
        <p:nvSpPr>
          <p:cNvPr id="107" name="Text 87"/>
          <p:cNvSpPr txBox="1"/>
          <p:nvPr/>
        </p:nvSpPr>
        <p:spPr>
          <a:xfrm>
            <a:off x="3465576" y="1018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+54 3804 49-4798</a:t>
            </a:r>
            <a:endParaRPr lang="en-US" sz="850" dirty="0"/>
          </a:p>
        </p:txBody>
      </p:sp>
      <p:pic>
        <p:nvPicPr>
          <p:cNvPr id="10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7720" y="10367388"/>
            <a:ext cx="146304" cy="146304"/>
          </a:xfrm>
          <a:prstGeom prst="rect">
            <a:avLst/>
          </a:prstGeom>
        </p:spPr>
      </p:pic>
      <p:sp>
        <p:nvSpPr>
          <p:cNvPr id="109" name="Text 88"/>
          <p:cNvSpPr txBox="1"/>
          <p:nvPr/>
        </p:nvSpPr>
        <p:spPr>
          <a:xfrm>
            <a:off x="4837176" y="10189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Rioja y Provincias Aledañas, Argentina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VAGUADA — Presentación</dc:title>
  <dc:subject>PptxGenJS Presentation</dc:subject>
  <dc:creator>PptxGenJS</dc:creator>
  <cp:lastModifiedBy>PptxGenJS</cp:lastModifiedBy>
  <cp:revision>1</cp:revision>
  <dcterms:created xsi:type="dcterms:W3CDTF">2026-09-27T04:05:31Z</dcterms:created>
  <dcterms:modified xsi:type="dcterms:W3CDTF">2026-09-27T04:05:31Z</dcterms:modified>
</cp:coreProperties>
</file>